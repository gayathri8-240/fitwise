
<file path=[Content_Types].xml><?xml version="1.0" encoding="utf-8"?>
<Types xmlns="http://schemas.openxmlformats.org/package/2006/content-types">
  <Default Extension="1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1" r:id="rId24"/>
    <p:sldId id="282" r:id="rId25"/>
    <p:sldId id="287" r:id="rId26"/>
    <p:sldId id="283" r:id="rId27"/>
    <p:sldId id="289" r:id="rId28"/>
    <p:sldId id="290" r:id="rId29"/>
    <p:sldId id="291" r:id="rId30"/>
    <p:sldId id="29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104FF-1A67-4B69-8285-777FE5E4FD6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24DB-7E87-4A61-8619-63C7221C9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C152-87B7-4774-B25C-DD686036168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2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48AC-1F57-4ED8-9DBE-947DCF6D179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9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2BDD-64F5-4FE3-8E51-862F40EEE686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2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BE06-2E5C-4301-A182-33B944186C64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5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76D9-4464-4F53-B73D-F694953BBD70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0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6176-93C4-42EF-8043-BE52EE833A1B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0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BE09-E48E-4D62-BCA2-4A075EC5FCA4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6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4697-5DCA-411F-92FA-001E453B4BA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2A0C8-622C-4734-BED3-671D643D49DA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6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73EF-F8D8-4C05-9872-9C402B2942C3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5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8F5D-C0A6-4BFF-82EF-70EE90845C0A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86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6858-ADB7-45B5-81D7-4870F01515A1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5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1178-3F7F-4103-9B41-15537D8F4D46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813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A4FC-5291-4AA2-902C-4E47DAF853B9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1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EFD-6C3B-42BF-97C7-391C7A454FC2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7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783F-87F8-4BE7-9390-0AF81D872D5C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9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FB9D3-4ECE-441B-9CDB-C113E000FD4B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A29F9F9-4160-4782-903E-8C2C6493E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4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healthyweight/assessing/bmi/adult_bmi/index.html" TargetMode="External"/><Relationship Id="rId2" Type="http://schemas.openxmlformats.org/officeDocument/2006/relationships/hyperlink" Target="https://www.cdc.gov/bm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yfitnesspal.com/" TargetMode="External"/><Relationship Id="rId4" Type="http://schemas.openxmlformats.org/officeDocument/2006/relationships/hyperlink" Target="https://www.nhlbi.nih.gov/calculate-your-bmi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sph.harvard.edu/nutritionsource/healthy-eating-plate/" TargetMode="External"/><Relationship Id="rId7" Type="http://schemas.openxmlformats.org/officeDocument/2006/relationships/hyperlink" Target="https://www.who.int/news-room/fact-sheets/detail/healthy-diet" TargetMode="External"/><Relationship Id="rId2" Type="http://schemas.openxmlformats.org/officeDocument/2006/relationships/hyperlink" Target="https://www.fao.org/3/i5640e/i5640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etaryguidelines.gov/" TargetMode="External"/><Relationship Id="rId5" Type="http://schemas.openxmlformats.org/officeDocument/2006/relationships/hyperlink" Target="https://www.nhs.uk/live-well/eat-well/" TargetMode="External"/><Relationship Id="rId4" Type="http://schemas.openxmlformats.org/officeDocument/2006/relationships/hyperlink" Target="https://www.nin.res.in/RDA_Full_Report_2024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asking" TargetMode="External"/><Relationship Id="rId2" Type="http://schemas.openxmlformats.org/officeDocument/2006/relationships/image" Target="../media/image6.1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9306-thank-you-free-download-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2534-19C3-1582-B2A9-2DF7A9D3F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2" y="2309566"/>
            <a:ext cx="8915399" cy="1369999"/>
          </a:xfrm>
        </p:spPr>
        <p:txBody>
          <a:bodyPr>
            <a:normAutofit/>
          </a:bodyPr>
          <a:lstStyle/>
          <a:p>
            <a:r>
              <a:rPr lang="en-US" sz="31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FitWise</a:t>
            </a:r>
            <a:r>
              <a:rPr lang="en-US" sz="3100" dirty="0"/>
              <a:t> – A Personalized BMI &amp; Lifestyle Recommendation Web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105FC-7725-4A61-BD44-244BBCE064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>
            <a:normAutofit/>
          </a:bodyPr>
          <a:lstStyle/>
          <a:p>
            <a:pPr algn="l"/>
            <a:r>
              <a:rPr lang="en-US" dirty="0"/>
              <a:t>BY </a:t>
            </a:r>
          </a:p>
          <a:p>
            <a:pPr algn="l"/>
            <a:r>
              <a:rPr lang="en-US" dirty="0"/>
              <a:t>Gayathri Devi Jarugu</a:t>
            </a:r>
          </a:p>
          <a:p>
            <a:endParaRPr lang="en-US" dirty="0"/>
          </a:p>
          <a:p>
            <a:pPr algn="r"/>
            <a:r>
              <a:rPr lang="en-US" dirty="0"/>
              <a:t>01/30/2026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1D908-80BD-D4DE-5AC0-504F5A9A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2C0E-F2DC-64C3-A227-EA421B32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0CEBF-96CE-F3E9-338D-CC3D9F51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r>
              <a:rPr lang="en-US" dirty="0"/>
              <a:t>Executive Summary</a:t>
            </a:r>
          </a:p>
          <a:p>
            <a:r>
              <a:rPr lang="en-US" dirty="0"/>
              <a:t>Functional Requirements</a:t>
            </a:r>
          </a:p>
          <a:p>
            <a:r>
              <a:rPr lang="en-US" dirty="0"/>
              <a:t>Non-Functional Requirements</a:t>
            </a:r>
          </a:p>
          <a:p>
            <a:r>
              <a:rPr lang="en-US" dirty="0"/>
              <a:t>Business Rules</a:t>
            </a:r>
          </a:p>
          <a:p>
            <a:r>
              <a:rPr lang="en-US" dirty="0"/>
              <a:t>Use Case Diagram</a:t>
            </a:r>
          </a:p>
          <a:p>
            <a:r>
              <a:rPr lang="en-US" dirty="0"/>
              <a:t>Class Diagram</a:t>
            </a:r>
          </a:p>
          <a:p>
            <a:r>
              <a:rPr lang="en-US" dirty="0"/>
              <a:t>Sequence Diagram</a:t>
            </a:r>
          </a:p>
          <a:p>
            <a:r>
              <a:rPr lang="en-US" dirty="0"/>
              <a:t>State Diagram</a:t>
            </a:r>
          </a:p>
          <a:p>
            <a:r>
              <a:rPr lang="en-US" dirty="0"/>
              <a:t>Communication Diagram</a:t>
            </a:r>
          </a:p>
          <a:p>
            <a:r>
              <a:rPr lang="en-US" dirty="0"/>
              <a:t>Entity Relationship Diagram</a:t>
            </a:r>
          </a:p>
          <a:p>
            <a:r>
              <a:rPr lang="en-US" dirty="0"/>
              <a:t>Functional Test Plan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E219-1A4E-6BE0-857A-7FDBABA8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66F3D-EE93-AFC7-6B23-21A57A0C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4709A-2A3D-8613-AED3-FCF221E0B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FitWise</a:t>
            </a:r>
            <a:r>
              <a:rPr lang="en-US" sz="2000" dirty="0"/>
              <a:t> is a health-focused web application that helps users </a:t>
            </a:r>
            <a:r>
              <a:rPr lang="en-US" sz="2000" b="1" dirty="0"/>
              <a:t>calculate their Body Mass Index (BMI)</a:t>
            </a:r>
            <a:r>
              <a:rPr lang="en-US" sz="2000" dirty="0"/>
              <a:t> and provides </a:t>
            </a:r>
            <a:r>
              <a:rPr lang="en-US" sz="2000" b="1" dirty="0"/>
              <a:t>personalized diet, exercise, and lifestyle recommendations</a:t>
            </a:r>
            <a:r>
              <a:rPr lang="en-US" sz="2000" dirty="0"/>
              <a:t> based on their health status. The app not only informs users about their BMI category but also </a:t>
            </a:r>
            <a:r>
              <a:rPr lang="en-US" sz="2000" b="1" dirty="0"/>
              <a:t>guides them safely</a:t>
            </a:r>
            <a:r>
              <a:rPr lang="en-US" sz="2000" dirty="0"/>
              <a:t> toward healthier choices, emphasizing personalized, culturally relevant suggestions and mental wellness. The app is built with a user-first approach, prioritizing </a:t>
            </a:r>
            <a:r>
              <a:rPr lang="en-US" sz="2000" b="1" dirty="0"/>
              <a:t>simplicity, personalization, and safety,</a:t>
            </a:r>
            <a:r>
              <a:rPr lang="en-US" sz="2000" dirty="0"/>
              <a:t> three features often overlooked in traditional health calculators. It supports both metric and imperial units and provides tailored health advice to suit each user’s profile.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AFD3E-8AC4-3947-49B6-7CACDDFE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9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2BD5-F210-967A-8372-22822AA7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5D7E-F85A-58EF-4A12-238DC127D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User Account Management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End Users, System Administrators</a:t>
            </a:r>
            <a:br>
              <a:rPr lang="en-US" sz="2000" dirty="0"/>
            </a:br>
            <a:r>
              <a:rPr lang="en-US" sz="2000" dirty="0"/>
              <a:t>1.1. The system allows users to register, log in, and log out securely.</a:t>
            </a:r>
            <a:br>
              <a:rPr lang="en-US" sz="2000" dirty="0"/>
            </a:br>
            <a:r>
              <a:rPr lang="en-US" sz="2000" dirty="0"/>
              <a:t>1.1.1. Users register with personal details (name, email, age, gender, etc.).</a:t>
            </a:r>
            <a:br>
              <a:rPr lang="en-US" sz="2000" dirty="0"/>
            </a:br>
            <a:r>
              <a:rPr lang="en-US" sz="2000" dirty="0"/>
              <a:t>1.1.2. The system provides password management (reset/recover).</a:t>
            </a:r>
            <a:br>
              <a:rPr lang="en-US" sz="2000" dirty="0"/>
            </a:br>
            <a:r>
              <a:rPr lang="en-US" sz="2000" dirty="0"/>
              <a:t>1.2. The system allows administrators to manage user accounts (activate, deactivate, suspend).</a:t>
            </a:r>
            <a:br>
              <a:rPr lang="en-US" sz="2000" dirty="0"/>
            </a:br>
            <a:r>
              <a:rPr lang="en-US" sz="2000" dirty="0"/>
              <a:t>1.2.1. System Administrators handle escalated account-related issues.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CAE4-3D0D-F280-6D01-2695AF01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8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2B34-B625-20F1-DF7C-3668C33B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19B51-3357-E1AE-488E-13C2BB8BB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BMI Calculation &amp; Classification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End Users</a:t>
            </a:r>
            <a:br>
              <a:rPr lang="en-US" sz="2000" dirty="0"/>
            </a:br>
            <a:r>
              <a:rPr lang="en-US" sz="2000" dirty="0"/>
              <a:t>2.1. Users input weight and height in metric or imperial units.</a:t>
            </a:r>
            <a:br>
              <a:rPr lang="en-US" sz="2000" dirty="0"/>
            </a:br>
            <a:r>
              <a:rPr lang="en-US" sz="2000" dirty="0"/>
              <a:t>2.1.1. The system calculates BMI values based on user inputs.</a:t>
            </a:r>
            <a:br>
              <a:rPr lang="en-US" sz="2000" dirty="0"/>
            </a:br>
            <a:r>
              <a:rPr lang="en-US" sz="2000" dirty="0"/>
              <a:t>2.1.2. The system classifies BMI into categories: Underweight, Normal, Overweight, Obese.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9176-C2C0-2A28-624C-7892849C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0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8367-9AEA-30E9-DD1E-62D86243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66AB0-8A5B-C862-BC62-075E69AFC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Personalized Health Recommendations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End Users</a:t>
            </a:r>
            <a:br>
              <a:rPr lang="en-US" sz="2000" dirty="0"/>
            </a:br>
            <a:r>
              <a:rPr lang="en-US" sz="2000" dirty="0"/>
              <a:t>3.1. The system provides diet recommendations.</a:t>
            </a:r>
            <a:br>
              <a:rPr lang="en-US" sz="2000" dirty="0"/>
            </a:br>
            <a:r>
              <a:rPr lang="en-US" sz="2000" dirty="0"/>
              <a:t>3.2. The system provides exercise suggestions suitable for the user’s BMI.</a:t>
            </a:r>
            <a:br>
              <a:rPr lang="en-US" sz="2000" dirty="0"/>
            </a:br>
            <a:r>
              <a:rPr lang="en-US" sz="2000" dirty="0"/>
              <a:t>3.3. The system generates adaptive lifestyle recommendations based on health inputs (e.g., sleep quality, fatigue, digestion issues).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932A0-A4BD-289E-1E24-D1F409BB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0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7D3F-F1EF-5D4F-7F1B-EC33228A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09135-7405-1E74-D704-9DAA2066F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Content &amp; Media Management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Content Managers, System Administrators</a:t>
            </a:r>
            <a:br>
              <a:rPr lang="en-US" sz="2000" dirty="0"/>
            </a:br>
            <a:r>
              <a:rPr lang="en-US" sz="2000" dirty="0"/>
              <a:t>4.1. The system provides exercise videos (embedded).</a:t>
            </a:r>
            <a:br>
              <a:rPr lang="en-US" sz="2000" dirty="0"/>
            </a:br>
            <a:r>
              <a:rPr lang="en-US" sz="2000" dirty="0"/>
              <a:t>4.2. Content managers upload and update videos and diet plans.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6C88F-F143-C18F-2ECD-7CB5C23C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1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D129F-6AA6-B807-1101-10FAC6BE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9D87-5624-DCAD-37C9-A3CD48C89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System Administration &amp; Monitoring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System Administrators, Network Administrators, Developers/Maintainers</a:t>
            </a:r>
            <a:br>
              <a:rPr lang="en-US" sz="2000" dirty="0"/>
            </a:br>
            <a:r>
              <a:rPr lang="en-US" sz="2000" dirty="0"/>
              <a:t>5.1. System Administrators manage system configurations, user permissions, and maintain application availability.</a:t>
            </a:r>
            <a:br>
              <a:rPr lang="en-US" sz="2000" dirty="0"/>
            </a:br>
            <a:r>
              <a:rPr lang="en-US" sz="2000" dirty="0"/>
              <a:t>5.1.1. They perform data backups and recovery operations.</a:t>
            </a:r>
            <a:br>
              <a:rPr lang="en-US" sz="2000" dirty="0"/>
            </a:br>
            <a:r>
              <a:rPr lang="en-US" sz="2000" dirty="0"/>
              <a:t>5.1.2. They monitor logs and handle escalated technical issues.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90AC0-D10E-F1E7-B178-8C38FEF2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2B8F-F714-1743-6290-2540470E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8563-24C1-9518-625E-B3A46B7B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5.2. Network Administrators monitor and maintain secure network connectivity, firewalls, and server performance.</a:t>
            </a:r>
            <a:br>
              <a:rPr lang="en-US" sz="2000" dirty="0"/>
            </a:br>
            <a:r>
              <a:rPr lang="en-US" sz="2000" dirty="0"/>
              <a:t>5.2.1. They ensure uptime of hosted services.</a:t>
            </a:r>
            <a:br>
              <a:rPr lang="en-US" sz="2000" dirty="0"/>
            </a:br>
            <a:r>
              <a:rPr lang="en-US" sz="2000" dirty="0"/>
              <a:t>5.2.2. They safeguard against external threats (e.g., DDoS, intrusion attempts).</a:t>
            </a:r>
            <a:br>
              <a:rPr lang="en-US" sz="2000" dirty="0"/>
            </a:br>
            <a:r>
              <a:rPr lang="en-US" sz="2000" dirty="0"/>
              <a:t>5.3. Developers/Maintainers handle bug fixes, system updates, and feature enhancements.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BBDE1-8931-B296-38F0-774DD4B3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3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7344-3990-EDE7-B956-6F9C3665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197D-2609-F98A-4D5B-FB1B10B10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Database &amp; Data Management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Database Administrators (DBAs), System Administrators</a:t>
            </a:r>
            <a:br>
              <a:rPr lang="en-US" sz="2000" dirty="0"/>
            </a:br>
            <a:r>
              <a:rPr lang="en-US" sz="2000" dirty="0"/>
              <a:t>6.1. The system stores user data securely in a database.</a:t>
            </a:r>
            <a:br>
              <a:rPr lang="en-US" sz="2000" dirty="0"/>
            </a:br>
            <a:r>
              <a:rPr lang="en-US" sz="2000" dirty="0"/>
              <a:t>6.2. The system allows retrieval of BMI history (future scope with account system).</a:t>
            </a:r>
            <a:br>
              <a:rPr lang="en-US" sz="2000" dirty="0"/>
            </a:br>
            <a:r>
              <a:rPr lang="en-US" sz="2000" dirty="0"/>
              <a:t>6.3. Database administrators manage schemas, backups, and migrations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22BA3-F38F-EB25-8ABB-F80708684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0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CA3F-0960-E9CF-73DE-2007B1E7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92FB-76E0-4E75-7250-20068D96B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Testing &amp; Quality Assurance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Developers, System Administrators</a:t>
            </a:r>
            <a:br>
              <a:rPr lang="en-US" sz="2000" dirty="0"/>
            </a:br>
            <a:r>
              <a:rPr lang="en-US" sz="2000" dirty="0"/>
              <a:t>7.1. The system supports unit, integration, and functional testing.</a:t>
            </a:r>
            <a:br>
              <a:rPr lang="en-US" sz="2000" dirty="0"/>
            </a:br>
            <a:r>
              <a:rPr lang="en-US" sz="2000" dirty="0"/>
              <a:t>7.2. Administrators and developers validate test outcomes.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737DB-BA8E-BFEF-3FF8-C0B426D1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F4E2-C686-1D15-4094-BB02EEA5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Non-Functional Requirements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ABE88-2EBE-8409-CD6A-7D961AE7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Performance Requirements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Developers, System Administrators</a:t>
            </a:r>
            <a:br>
              <a:rPr lang="en-US" sz="2000" dirty="0"/>
            </a:br>
            <a:r>
              <a:rPr lang="en-US" sz="2000" dirty="0"/>
              <a:t>1.1. The system processes BMI calculations and returns results within 2 seconds.</a:t>
            </a:r>
            <a:br>
              <a:rPr lang="en-US" sz="2000" dirty="0"/>
            </a:br>
            <a:r>
              <a:rPr lang="en-US" sz="2000" dirty="0"/>
              <a:t>1.2. The system supports at least 500 concurrent users with minimal performance degradation.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C1FC1-BF44-A05C-81EB-AEA4C9CE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4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F314-BEC5-74FD-6F6B-AECF57ED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8981-2A89-D994-4ECD-339C8DD85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Security Requirements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System Administrators, Network Administrators</a:t>
            </a:r>
            <a:br>
              <a:rPr lang="en-US" sz="2000" dirty="0"/>
            </a:br>
            <a:r>
              <a:rPr lang="en-US" sz="2000" dirty="0"/>
              <a:t>2.1. All user data is encrypted during transmission (via HTTPS).</a:t>
            </a:r>
            <a:br>
              <a:rPr lang="en-US" sz="2000" dirty="0"/>
            </a:br>
            <a:r>
              <a:rPr lang="en-US" sz="2000" dirty="0"/>
              <a:t>2.2. Passwords are hashed and salted in storage.</a:t>
            </a:r>
            <a:br>
              <a:rPr lang="en-US" sz="2000" dirty="0"/>
            </a:br>
            <a:r>
              <a:rPr lang="en-US" sz="2000" dirty="0"/>
              <a:t>2.3. Administrators enforce role-based access control.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09BCA-42E1-FF21-6695-7BD7769F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6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3CB2-02D0-7469-80F0-2BF70F33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6CF8-B57E-621F-B1B3-99DD2844A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Reliability &amp; Availability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System Administrators, Network Administrators</a:t>
            </a:r>
            <a:br>
              <a:rPr lang="en-US" sz="2000" dirty="0"/>
            </a:br>
            <a:r>
              <a:rPr lang="en-US" sz="2000" dirty="0"/>
              <a:t>3.1. The system maintains 99% uptime.</a:t>
            </a:r>
            <a:br>
              <a:rPr lang="en-US" sz="2000" dirty="0"/>
            </a:br>
            <a:r>
              <a:rPr lang="en-US" sz="2000" dirty="0"/>
              <a:t>3.2. Network administrators ensure redundancy for critical services.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E6A1A-9429-E261-49D7-EB10A46D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0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11C4-21A0-3BDF-ADD4-BD3CC024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6315-8D37-0CE7-EB0E-6B116909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Usability Requirements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End Users, Developers</a:t>
            </a:r>
            <a:br>
              <a:rPr lang="en-US" sz="2000" dirty="0"/>
            </a:br>
            <a:r>
              <a:rPr lang="en-US" sz="2000" dirty="0"/>
              <a:t>4.1. The user interface is responsive and mobile-friendly.</a:t>
            </a:r>
            <a:br>
              <a:rPr lang="en-US" sz="2000" dirty="0"/>
            </a:br>
            <a:r>
              <a:rPr lang="en-US" sz="2000" dirty="0"/>
              <a:t>4.2. The system provides intuitive navigation with minimal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7C74C-5434-288E-6247-1783BF87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0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A7A0-E1DC-2F45-CCF4-84001D45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426BF-872A-E74B-C75E-B7584613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Maintainability &amp; Scalability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Developers/Maintainers</a:t>
            </a:r>
            <a:br>
              <a:rPr lang="en-US" sz="2000" dirty="0"/>
            </a:br>
            <a:r>
              <a:rPr lang="en-US" sz="2000" dirty="0"/>
              <a:t>5.1. The system is modular to support new features (e.g., mood tracking, AI advisor).</a:t>
            </a:r>
            <a:br>
              <a:rPr lang="en-US" sz="2000" dirty="0"/>
            </a:br>
            <a:r>
              <a:rPr lang="en-US" sz="2000" dirty="0"/>
              <a:t>5.2. Developers document all updates for future scalability.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32DD0-D756-82B4-4E85-6F463742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5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6014-C6AC-2C32-5F0E-8DB4E0A9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C86E-9BA5-B231-E034-290DA6DE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Compliance Requirements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System Administrators, Legal/Compliance Officers</a:t>
            </a:r>
            <a:br>
              <a:rPr lang="en-US" sz="2000" dirty="0"/>
            </a:br>
            <a:r>
              <a:rPr lang="en-US" sz="2000" dirty="0"/>
              <a:t>6.1. The system complies with healthcare data privacy guidelines (HIPAA/GDPR where applicable).</a:t>
            </a:r>
            <a:br>
              <a:rPr lang="en-US" sz="2000" dirty="0"/>
            </a:br>
            <a:r>
              <a:rPr lang="en-US" sz="2000" dirty="0"/>
              <a:t>6.2. The system provides users with terms of service and a medical disclaimer.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20775-B5DB-3E7B-9FB7-5B97AC7D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3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5DD84-023D-D9A9-84F2-133D700D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Non-Functional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6B7B4-B8DB-3AE3-77E5-C07CD635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000" b="1" dirty="0"/>
              <a:t>Monitoring &amp; Auditability</a:t>
            </a:r>
            <a:br>
              <a:rPr lang="en-US" sz="2000" dirty="0"/>
            </a:br>
            <a:r>
              <a:rPr lang="en-US" sz="2000" b="1" dirty="0"/>
              <a:t>Actors:</a:t>
            </a:r>
            <a:r>
              <a:rPr lang="en-US" sz="2000" dirty="0"/>
              <a:t> System Administrators, Network Administrators</a:t>
            </a:r>
            <a:br>
              <a:rPr lang="en-US" sz="2000" dirty="0"/>
            </a:br>
            <a:r>
              <a:rPr lang="en-US" sz="2000" dirty="0"/>
              <a:t>7.1. System administrators maintain audit logs of user and admin activities.</a:t>
            </a:r>
            <a:br>
              <a:rPr lang="en-US" sz="2000" dirty="0"/>
            </a:br>
            <a:r>
              <a:rPr lang="en-US" sz="2000" dirty="0"/>
              <a:t>7.2. Logs are reviewed periodically for anomalies by network and system administrators.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63D02-0C78-80ED-E5AE-45F9D667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2ED5-7563-39FE-8CDE-24FDDD84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Rules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B4707F-A973-35A8-564B-ED6BAFBAFF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2437362"/>
            <a:ext cx="661591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verified email &amp; strong password required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Locked after 5 failed logins (10 min)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BMI = Weight / Height² → stored with timestamp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 diet &amp; exercise tips based on BMI, age, lifestyle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approved, verified content visible to users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encrypted (AES-256, HTTPS) &amp; backed up daily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manages roles, logs kept 90 days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only after testing &amp; approval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export reports (PDF) &amp; delete accounts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GDPR &amp; HIPAA compliance ensured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CA0404-D58B-9607-6AF5-5ED4ADE0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EF72-B062-FA91-5E66-BA7E2F7B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Usecase Diagram</a:t>
            </a:r>
          </a:p>
        </p:txBody>
      </p:sp>
      <p:pic>
        <p:nvPicPr>
          <p:cNvPr id="3074" name="Picture 2" descr="PlantUML diagram">
            <a:extLst>
              <a:ext uri="{FF2B5EF4-FFF2-40B4-BE49-F238E27FC236}">
                <a16:creationId xmlns:a16="http://schemas.microsoft.com/office/drawing/2014/main" id="{A16BB796-4611-0BE1-7EA7-D354B28DD6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853" y="1250065"/>
            <a:ext cx="5717894" cy="55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013C66-519C-CA2C-56B9-7EE3A818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8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7FA2-C698-3F66-224C-C4D9E2E2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4" name="Content Placeholder 3" descr="PlantUML diagram">
            <a:extLst>
              <a:ext uri="{FF2B5EF4-FFF2-40B4-BE49-F238E27FC236}">
                <a16:creationId xmlns:a16="http://schemas.microsoft.com/office/drawing/2014/main" id="{0C1803F5-8D4C-CC80-7CD8-41ADC1F8B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31" y="1261641"/>
            <a:ext cx="8518967" cy="54979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3E7135-E23E-F76E-9E82-7C903944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E66C-4AD0-9C61-429A-16CE8B43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50047"/>
          </a:xfrm>
        </p:spPr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4" name="Content Placeholder 3" descr="PlantUML diagram">
            <a:extLst>
              <a:ext uri="{FF2B5EF4-FFF2-40B4-BE49-F238E27FC236}">
                <a16:creationId xmlns:a16="http://schemas.microsoft.com/office/drawing/2014/main" id="{C0C25109-AEED-D5CE-8703-0BE190093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604" y="1493134"/>
            <a:ext cx="9969275" cy="49381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0A6999-441F-B9D0-B93F-E8F192AE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3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1CB2-AF53-E40E-F3E2-8D1CF946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DIAGRAM</a:t>
            </a:r>
          </a:p>
        </p:txBody>
      </p:sp>
      <p:pic>
        <p:nvPicPr>
          <p:cNvPr id="4" name="Content Placeholder 3" descr="PlantUML diagram">
            <a:extLst>
              <a:ext uri="{FF2B5EF4-FFF2-40B4-BE49-F238E27FC236}">
                <a16:creationId xmlns:a16="http://schemas.microsoft.com/office/drawing/2014/main" id="{524DEF9B-2AB4-6E2E-867F-251FA846F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2340637"/>
            <a:ext cx="8915400" cy="336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20DDA-6198-F331-C724-B716CFF6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2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E73C-8E69-05B9-86E0-8B4E6DB3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Functional Test Plan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CF5F-7A07-4F7A-9FB0-A2270423D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0312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b="1" dirty="0"/>
              <a:t>4.1 Objective</a:t>
            </a:r>
            <a:endParaRPr lang="en-US" sz="2000" dirty="0"/>
          </a:p>
          <a:p>
            <a:r>
              <a:rPr lang="en-US" sz="2000" dirty="0"/>
              <a:t>The objective of this Functional Test Plan is to verify that each function of the </a:t>
            </a:r>
            <a:r>
              <a:rPr lang="en-US" sz="2000" i="1" dirty="0"/>
              <a:t>FitWise Health &amp; Fitness Management System</a:t>
            </a:r>
            <a:r>
              <a:rPr lang="en-US" sz="2000" dirty="0"/>
              <a:t> operates in accordance with the defined functional requirements. The tests ensure that the system meets user expectations, performs accurately, and maintains data consistency and security across all modules.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206BA-F3A8-AF06-49A0-BE50D9F6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4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BFBA-DE1C-F179-1A28-9DB0ED86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Entity Relationship Diagram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 descr="PlantUML diagram">
            <a:extLst>
              <a:ext uri="{FF2B5EF4-FFF2-40B4-BE49-F238E27FC236}">
                <a16:creationId xmlns:a16="http://schemas.microsoft.com/office/drawing/2014/main" id="{FC4C5492-731D-C9D7-0CB5-7954D8D46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693" y="2133600"/>
            <a:ext cx="848644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643F19-478F-35CC-9BD0-858FD343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2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7844F-D034-1775-B323-8E51FDBB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Functional Test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343DE-187A-FE15-79EF-5CD6B640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4.2 Scope</a:t>
            </a:r>
            <a:endParaRPr lang="en-US" sz="2000" dirty="0"/>
          </a:p>
          <a:p>
            <a:r>
              <a:rPr lang="en-US" sz="2000" dirty="0"/>
              <a:t>This test plan covers all major functionalities of the system, including:</a:t>
            </a:r>
          </a:p>
          <a:p>
            <a:pPr lvl="0"/>
            <a:r>
              <a:rPr lang="en-US" sz="2000" dirty="0"/>
              <a:t>User registration, authentication, and session management</a:t>
            </a:r>
          </a:p>
          <a:p>
            <a:pPr lvl="0"/>
            <a:r>
              <a:rPr lang="en-US" sz="2000" dirty="0"/>
              <a:t>BMI calculation and classification</a:t>
            </a:r>
          </a:p>
          <a:p>
            <a:pPr lvl="0"/>
            <a:r>
              <a:rPr lang="en-US" sz="2000" dirty="0"/>
              <a:t>Diet and exercise recommendation generation</a:t>
            </a:r>
          </a:p>
          <a:p>
            <a:pPr lvl="0"/>
            <a:r>
              <a:rPr lang="en-US" sz="2000" dirty="0"/>
              <a:t>Lifestyle input handling and recalculation</a:t>
            </a:r>
          </a:p>
          <a:p>
            <a:pPr lvl="0"/>
            <a:r>
              <a:rPr lang="en-US" sz="2000" dirty="0"/>
              <a:t>Administrative operations (system, network, database, and content management)</a:t>
            </a:r>
          </a:p>
          <a:p>
            <a:pPr lvl="0"/>
            <a:r>
              <a:rPr lang="en-US" sz="2000" dirty="0"/>
              <a:t>Data persistence and content retrieval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76D3-B079-BDF0-27F7-6A495530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4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153CC-3D65-3358-319F-C2F7A5A3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FC96-4A41-1F19-EE10-C7B43EA1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BMI Calculators :</a:t>
            </a:r>
            <a:endParaRPr lang="en-US" dirty="0"/>
          </a:p>
          <a:p>
            <a:r>
              <a:rPr lang="en-US" dirty="0"/>
              <a:t>1. Centers for Disease Control and Prevention. (n.d.). </a:t>
            </a:r>
            <a:r>
              <a:rPr lang="en-US" i="1" dirty="0"/>
              <a:t>BMI Calculator</a:t>
            </a:r>
            <a:r>
              <a:rPr lang="en-US" dirty="0"/>
              <a:t>. </a:t>
            </a:r>
            <a:r>
              <a:rPr lang="en-US" u="sng" dirty="0">
                <a:hlinkClick r:id="rId2"/>
              </a:rPr>
              <a:t>https://www.cdc.gov/bmi</a:t>
            </a:r>
            <a:endParaRPr lang="en-US" dirty="0"/>
          </a:p>
          <a:p>
            <a:r>
              <a:rPr lang="en-US" dirty="0"/>
              <a:t>2. Centers for Disease Control and Prevention. (n.d.). </a:t>
            </a:r>
            <a:r>
              <a:rPr lang="en-US" i="1" dirty="0"/>
              <a:t>About Adult BMI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https://www.cdc.gov/healthyweight/assessing/bmi/adult_bmi/index.html</a:t>
            </a:r>
            <a:endParaRPr lang="en-US" dirty="0"/>
          </a:p>
          <a:p>
            <a:r>
              <a:rPr lang="en-US" dirty="0"/>
              <a:t>3. National Heart, Lung, and Blood Institute. (n.d.). </a:t>
            </a:r>
            <a:r>
              <a:rPr lang="en-US" i="1" dirty="0"/>
              <a:t>Calculate your body mass index</a:t>
            </a:r>
            <a:r>
              <a:rPr lang="en-US" dirty="0"/>
              <a:t>.</a:t>
            </a:r>
          </a:p>
          <a:p>
            <a:r>
              <a:rPr lang="en-US" u="sng" dirty="0">
                <a:hlinkClick r:id="rId4"/>
              </a:rPr>
              <a:t>https://www.nhlbi.nih.gov/calculate-your-bmi</a:t>
            </a:r>
            <a:endParaRPr lang="en-US" dirty="0"/>
          </a:p>
          <a:p>
            <a:r>
              <a:rPr lang="en-US" dirty="0"/>
              <a:t>4. MyFitnessPal. (n.d.). </a:t>
            </a:r>
            <a:r>
              <a:rPr lang="en-US" i="1" dirty="0"/>
              <a:t>MyFitnessPal: Calorie counter app</a:t>
            </a:r>
            <a:r>
              <a:rPr lang="en-US" dirty="0"/>
              <a:t>. Under </a:t>
            </a:r>
            <a:r>
              <a:rPr lang="en-US" dirty="0" err="1"/>
              <a:t>Armour</a:t>
            </a:r>
            <a:r>
              <a:rPr lang="en-US" dirty="0"/>
              <a:t>, Inc. </a:t>
            </a:r>
            <a:r>
              <a:rPr lang="en-US" u="sng" dirty="0">
                <a:hlinkClick r:id="rId5"/>
              </a:rPr>
              <a:t>https://www.myfitnesspal.com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DF3E1-8EE2-299F-7D17-BC0A41581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1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BB0B-1131-1A39-FBC6-AE394D48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71C89-10EE-3945-02F6-F4A7BFB2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Cultural and Regional Dietary Guidelines:</a:t>
            </a:r>
            <a:endParaRPr lang="en-US" dirty="0"/>
          </a:p>
          <a:p>
            <a:r>
              <a:rPr lang="en-US" dirty="0"/>
              <a:t>5. Food and Agriculture Organization of the United Nations. (2016). </a:t>
            </a:r>
            <a:r>
              <a:rPr lang="en-US" i="1" dirty="0"/>
              <a:t>Promoting healthy diets through nutrition education and changes in the food environment: An international review of actions and their effectiveness</a:t>
            </a:r>
            <a:r>
              <a:rPr lang="en-US" dirty="0"/>
              <a:t>. </a:t>
            </a:r>
            <a:r>
              <a:rPr lang="en-US" u="sng" dirty="0">
                <a:hlinkClick r:id="rId2"/>
              </a:rPr>
              <a:t>https://www.fao.org/3/i5640e/i5640e.pdf</a:t>
            </a:r>
            <a:endParaRPr lang="en-US" dirty="0"/>
          </a:p>
          <a:p>
            <a:r>
              <a:rPr lang="en-US" dirty="0"/>
              <a:t>6. Harvard T.H. Chan School of Public Health. (n.d.). </a:t>
            </a:r>
            <a:r>
              <a:rPr lang="en-US" i="1" dirty="0"/>
              <a:t>Healthy eating plate &amp; healthy eating pyramid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https://www.hsph.harvard.edu/nutritionsource/healthy-eating-plate/</a:t>
            </a:r>
            <a:endParaRPr lang="en-US" dirty="0"/>
          </a:p>
          <a:p>
            <a:r>
              <a:rPr lang="en-US" dirty="0"/>
              <a:t>7. Indian Council of Medical Research. (2024). </a:t>
            </a:r>
            <a:r>
              <a:rPr lang="en-US" i="1" dirty="0"/>
              <a:t>Nutrient requirements for Indians</a:t>
            </a:r>
            <a:r>
              <a:rPr lang="en-US" dirty="0"/>
              <a:t>. National Institute of Nutrition. </a:t>
            </a:r>
            <a:r>
              <a:rPr lang="en-US" u="sng" dirty="0">
                <a:hlinkClick r:id="rId4"/>
              </a:rPr>
              <a:t>https://www.nin.res.in/RDA_Full_Report_2024.html</a:t>
            </a:r>
            <a:endParaRPr lang="en-US" dirty="0"/>
          </a:p>
          <a:p>
            <a:r>
              <a:rPr lang="en-US" dirty="0"/>
              <a:t>8. National Health Service (UK). (n.d.). </a:t>
            </a:r>
            <a:r>
              <a:rPr lang="en-US" i="1" dirty="0"/>
              <a:t>Eat well – How to eat a balanced diet</a:t>
            </a:r>
            <a:r>
              <a:rPr lang="en-US" dirty="0"/>
              <a:t>. </a:t>
            </a:r>
            <a:r>
              <a:rPr lang="en-US" u="sng" dirty="0">
                <a:hlinkClick r:id="rId5"/>
              </a:rPr>
              <a:t>https://www.nhs.uk/live-well/eat-well/</a:t>
            </a:r>
            <a:endParaRPr lang="en-US" dirty="0"/>
          </a:p>
          <a:p>
            <a:r>
              <a:rPr lang="en-US" dirty="0"/>
              <a:t>9. U.S. Department of Health and Human Services, &amp; U.S. Department of Agriculture. (2020). </a:t>
            </a:r>
            <a:r>
              <a:rPr lang="en-US" i="1" dirty="0"/>
              <a:t>Dietary guidelines for Americans, 2020–2025</a:t>
            </a:r>
            <a:r>
              <a:rPr lang="en-US" dirty="0"/>
              <a:t>. </a:t>
            </a:r>
            <a:r>
              <a:rPr lang="en-US" u="sng" dirty="0">
                <a:hlinkClick r:id="rId6"/>
              </a:rPr>
              <a:t>https://www.dietaryguidelines.gov/</a:t>
            </a:r>
            <a:endParaRPr lang="en-US" dirty="0"/>
          </a:p>
          <a:p>
            <a:r>
              <a:rPr lang="en-US" dirty="0"/>
              <a:t>10. World Health Organization. (2020). </a:t>
            </a:r>
            <a:r>
              <a:rPr lang="en-US" i="1" dirty="0"/>
              <a:t>Healthy diet</a:t>
            </a:r>
            <a:r>
              <a:rPr lang="en-US" dirty="0"/>
              <a:t>. </a:t>
            </a:r>
            <a:r>
              <a:rPr lang="en-US" u="sng" dirty="0">
                <a:hlinkClick r:id="rId7"/>
              </a:rPr>
              <a:t>https://www.who.int/news-room/fact-sheets/detail/healthy-diet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F6EE9-53B6-60EF-5C73-8C94ACFD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83F9E-379C-4559-6530-67BF95B10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86526" y="994611"/>
            <a:ext cx="8710863" cy="559869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96CA9-4F03-668B-18FE-008E1C2D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3B0D5-6832-FB38-137D-C195D84C9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34654" y="1588167"/>
            <a:ext cx="8935452" cy="4668253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F2278-2896-742D-366C-2522BFB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9F9F9-4160-4782-903E-8C2C6493E5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2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125</TotalTime>
  <Words>1521</Words>
  <Application>Microsoft Office PowerPoint</Application>
  <PresentationFormat>Widescreen</PresentationFormat>
  <Paragraphs>123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Gothic</vt:lpstr>
      <vt:lpstr>Wingdings 3</vt:lpstr>
      <vt:lpstr>Wisp</vt:lpstr>
      <vt:lpstr>FitWise – A Personalized BMI &amp; Lifestyle Recommendation Web Application</vt:lpstr>
      <vt:lpstr>Contents</vt:lpstr>
      <vt:lpstr>Executive Summary</vt:lpstr>
      <vt:lpstr>Functional Requirements </vt:lpstr>
      <vt:lpstr>Functional Requirements</vt:lpstr>
      <vt:lpstr>Functional Requirements</vt:lpstr>
      <vt:lpstr>Functional Requirements</vt:lpstr>
      <vt:lpstr>Functional Requirements</vt:lpstr>
      <vt:lpstr>Functional Requirements</vt:lpstr>
      <vt:lpstr>Functional Requirements</vt:lpstr>
      <vt:lpstr>Functional Requirements</vt:lpstr>
      <vt:lpstr>Non-Functional Requirements </vt:lpstr>
      <vt:lpstr>Non-Functional Requirements</vt:lpstr>
      <vt:lpstr>Non-Functional Requirements</vt:lpstr>
      <vt:lpstr>Non-Functional Requirements</vt:lpstr>
      <vt:lpstr>Non-Functional Requirements</vt:lpstr>
      <vt:lpstr>Non-Functional Requirements</vt:lpstr>
      <vt:lpstr>Non-Functional Requirements</vt:lpstr>
      <vt:lpstr>Business Rules Summary</vt:lpstr>
      <vt:lpstr>Usecase Diagram</vt:lpstr>
      <vt:lpstr>Class Diagram</vt:lpstr>
      <vt:lpstr>Sequence Diagram</vt:lpstr>
      <vt:lpstr>COMMUNICATION DIAGRAM</vt:lpstr>
      <vt:lpstr>Functional Test Plan </vt:lpstr>
      <vt:lpstr>Entity Relationship Diagram </vt:lpstr>
      <vt:lpstr>Functional Test Plan</vt:lpstr>
      <vt:lpstr>References 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KEKA KC230211196</dc:creator>
  <cp:lastModifiedBy>KEKA KC230211196</cp:lastModifiedBy>
  <cp:revision>9</cp:revision>
  <dcterms:created xsi:type="dcterms:W3CDTF">2025-10-21T09:45:22Z</dcterms:created>
  <dcterms:modified xsi:type="dcterms:W3CDTF">2026-01-30T12:15:31Z</dcterms:modified>
</cp:coreProperties>
</file>